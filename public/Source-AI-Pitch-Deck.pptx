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7315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666666"/>
                </a:solidFill>
                <a:latin typeface="Courier New"/>
              </a:defRPr>
            </a:pPr>
            <a: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1887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 i="0">
                <a:solidFill>
                  <a:srgbClr val="000000"/>
                </a:solidFill>
                <a:latin typeface="Arial"/>
              </a:defRPr>
            </a:pPr>
            <a:r>
              <a:t>How Migrations Work Today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" y="2560320"/>
            <a:ext cx="8229600" cy="640080"/>
          </a:xfrm>
          <a:prstGeom prst="rect">
            <a:avLst/>
          </a:prstGeom>
          <a:noFill/>
          <a:ln w="1270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2633472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BFBFBF"/>
                </a:solidFill>
                <a:latin typeface="Courier New"/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26060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000000"/>
                </a:solidFill>
                <a:latin typeface="Arial"/>
              </a:defRPr>
            </a:pPr>
            <a:r>
              <a:t>End Client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0" y="288036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666666"/>
                </a:solidFill>
                <a:latin typeface="Arial"/>
              </a:defRPr>
            </a:pPr>
            <a:r>
              <a:t>Identifies need, issues RFP, evaluates vendors</a:t>
            </a:r>
          </a:p>
        </p:txBody>
      </p:sp>
      <p:sp>
        <p:nvSpPr>
          <p:cNvPr id="8" name="Rectangle 7"/>
          <p:cNvSpPr/>
          <p:nvPr/>
        </p:nvSpPr>
        <p:spPr>
          <a:xfrm>
            <a:off x="1645920" y="3337560"/>
            <a:ext cx="8229600" cy="640080"/>
          </a:xfrm>
          <a:prstGeom prst="rect">
            <a:avLst/>
          </a:prstGeom>
          <a:noFill/>
          <a:ln w="1270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28800" y="3410712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BFBFBF"/>
                </a:solidFill>
                <a:latin typeface="Courier New"/>
              </a:defRPr>
            </a:pPr>
            <a: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60320" y="33832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000000"/>
                </a:solidFill>
                <a:latin typeface="Arial"/>
              </a:defRPr>
            </a:pPr>
            <a:r>
              <a:t>Sales &amp; Scoping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60320" y="365760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666666"/>
                </a:solidFill>
                <a:latin typeface="Arial"/>
              </a:defRPr>
            </a:pPr>
            <a:r>
              <a:t>Discovery calls, needs analysis, proposal writing, SOW negotiation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194560" y="4114800"/>
            <a:ext cx="8229600" cy="640080"/>
          </a:xfrm>
          <a:prstGeom prst="rect">
            <a:avLst/>
          </a:prstGeom>
          <a:noFill/>
          <a:ln w="1270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377440" y="4187952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BFBFBF"/>
                </a:solidFill>
                <a:latin typeface="Courier New"/>
              </a:defRPr>
            </a:pPr>
            <a: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41605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000000"/>
                </a:solidFill>
                <a:latin typeface="Arial"/>
              </a:defRPr>
            </a:pPr>
            <a:r>
              <a:t>Solutions Architecture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08960" y="443484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666666"/>
                </a:solidFill>
                <a:latin typeface="Arial"/>
              </a:defRPr>
            </a:pPr>
            <a:r>
              <a:t>Schema analysis, gap assessment, AS-IS to TO-BE mapping, BRD creation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199" y="4892040"/>
            <a:ext cx="8229600" cy="640080"/>
          </a:xfrm>
          <a:prstGeom prst="rect">
            <a:avLst/>
          </a:prstGeom>
          <a:noFill/>
          <a:ln w="1270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926079" y="4965192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BFBFBF"/>
                </a:solidFill>
                <a:latin typeface="Courier New"/>
              </a:defRPr>
            </a:pPr>
            <a: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599" y="49377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000000"/>
                </a:solidFill>
                <a:latin typeface="Arial"/>
              </a:defRPr>
            </a:pPr>
            <a:r>
              <a:t>Resource &amp; Team Build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599" y="521208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666666"/>
                </a:solidFill>
                <a:latin typeface="Arial"/>
              </a:defRPr>
            </a:pPr>
            <a:r>
              <a:t>Find offshore/onshore devs, onboard, ramp up on client systems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91840" y="5669280"/>
            <a:ext cx="8229600" cy="640080"/>
          </a:xfrm>
          <a:prstGeom prst="rect">
            <a:avLst/>
          </a:prstGeom>
          <a:noFill/>
          <a:ln w="1270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74720" y="5742432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BFBFBF"/>
                </a:solidFill>
                <a:latin typeface="Courier New"/>
              </a:defRPr>
            </a:pPr>
            <a:r>
              <a:t>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06240" y="57150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000000"/>
                </a:solidFill>
                <a:latin typeface="Arial"/>
              </a:defRPr>
            </a:pPr>
            <a:r>
              <a:t>Implementation &amp; Config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06240" y="598932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666666"/>
                </a:solidFill>
                <a:latin typeface="Arial"/>
              </a:defRPr>
            </a:pPr>
            <a:r>
              <a:t>Data migration, custom development, integrations, UAT, bug fixing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840480" y="6446520"/>
            <a:ext cx="8229600" cy="640080"/>
          </a:xfrm>
          <a:prstGeom prst="rect">
            <a:avLst/>
          </a:prstGeom>
          <a:noFill/>
          <a:ln w="1270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023360" y="6519672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BFBFBF"/>
                </a:solidFill>
                <a:latin typeface="Courier New"/>
              </a:defRPr>
            </a:pPr>
            <a:r>
              <a:t>06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54880" y="64922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000000"/>
                </a:solidFill>
                <a:latin typeface="Arial"/>
              </a:defRPr>
            </a:pPr>
            <a:r>
              <a:t>Go-Live &amp; Handover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54880" y="676656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666666"/>
                </a:solidFill>
                <a:latin typeface="Arial"/>
              </a:defRPr>
            </a:pPr>
            <a:r>
              <a:t>Cutover planning, validation, training, hypercare, documentation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" y="7498079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BFBFBF"/>
                </a:solidFill>
                <a:latin typeface="Courier New"/>
              </a:defRPr>
            </a:pPr>
            <a:r>
              <a:t>Month 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0" y="72237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 i="0">
                <a:solidFill>
                  <a:srgbClr val="666666"/>
                </a:solidFill>
                <a:latin typeface="Courier New"/>
              </a:defRPr>
            </a:pPr>
            <a:r>
              <a:t>2 - 6+ months typical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0" y="7498079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 i="0">
                <a:solidFill>
                  <a:srgbClr val="BFBFBF"/>
                </a:solidFill>
                <a:latin typeface="Courier New"/>
              </a:defRPr>
            </a:pPr>
            <a:r>
              <a:t>Month 6+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97280" y="7360920"/>
            <a:ext cx="12435840" cy="73152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371600"/>
            <a:ext cx="1463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 i="0">
                <a:solidFill>
                  <a:srgbClr val="666666"/>
                </a:solidFill>
                <a:latin typeface="Courier New"/>
              </a:defRPr>
            </a:pPr>
            <a:r>
              <a:t>INTRODUCING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2011680"/>
            <a:ext cx="14630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0" b="1" i="0">
                <a:solidFill>
                  <a:srgbClr val="000000"/>
                </a:solidFill>
                <a:latin typeface="Arial"/>
              </a:defRPr>
            </a:pPr>
            <a:r>
              <a:t>Source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475488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 i="0">
                <a:solidFill>
                  <a:srgbClr val="666666"/>
                </a:solidFill>
                <a:latin typeface="Arial"/>
              </a:defRPr>
            </a:pPr>
            <a:r>
              <a:t>An AI engine that automates 80% of ERP migrations —</a:t>
            </a:r>
            <a:br/>
            <a:r>
              <a:t>so your consultancy wins more deals, moves faster,</a:t>
            </a:r>
            <a:br/>
            <a:r>
              <a:t>and makes more money.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5486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666666"/>
                </a:solidFill>
                <a:latin typeface="Courier New"/>
              </a:defRPr>
            </a:pPr>
            <a:r>
              <a:t>THE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005840"/>
            <a:ext cx="1280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 i="0">
                <a:solidFill>
                  <a:srgbClr val="000000"/>
                </a:solidFill>
                <a:latin typeface="Arial"/>
              </a:defRPr>
            </a:pPr>
            <a:r>
              <a:t>Source AI Replaces the Delivery Chain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1031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66666"/>
                </a:solidFill>
                <a:latin typeface="Courier New"/>
              </a:defRPr>
            </a:pPr>
            <a:r>
              <a:t>BEFORE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2560320"/>
            <a:ext cx="2103120" cy="640080"/>
          </a:xfrm>
          <a:prstGeom prst="rect">
            <a:avLst/>
          </a:prstGeom>
          <a:noFill/>
          <a:ln w="12700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265176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 i="0">
                <a:solidFill>
                  <a:srgbClr val="666666"/>
                </a:solidFill>
                <a:latin typeface="Arial"/>
              </a:defRPr>
            </a:pPr>
            <a:r>
              <a:t>End Client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26517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 i="0">
                <a:solidFill>
                  <a:srgbClr val="BFBFBF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0" y="2560320"/>
            <a:ext cx="2103120" cy="640080"/>
          </a:xfrm>
          <a:prstGeom prst="rect">
            <a:avLst/>
          </a:prstGeom>
          <a:noFill/>
          <a:ln w="12700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49040" y="265176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 i="0">
                <a:solidFill>
                  <a:srgbClr val="666666"/>
                </a:solidFill>
                <a:latin typeface="Arial"/>
              </a:defRPr>
            </a:pPr>
            <a:r>
              <a:t>Sales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60720" y="26517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 i="0">
                <a:solidFill>
                  <a:srgbClr val="BFBFBF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2560320"/>
            <a:ext cx="2103120" cy="640080"/>
          </a:xfrm>
          <a:prstGeom prst="rect">
            <a:avLst/>
          </a:prstGeom>
          <a:noFill/>
          <a:ln w="127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265176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 i="0">
                <a:solidFill>
                  <a:srgbClr val="C8C8C8"/>
                </a:solidFill>
                <a:latin typeface="Arial"/>
              </a:defRPr>
            </a:pPr>
            <a:r>
              <a:t>Solutions Architect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0" y="2880360"/>
            <a:ext cx="1737360" cy="254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0" y="26517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 i="0">
                <a:solidFill>
                  <a:srgbClr val="BFBFBF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778239" y="2560320"/>
            <a:ext cx="2103120" cy="640080"/>
          </a:xfrm>
          <a:prstGeom prst="rect">
            <a:avLst/>
          </a:prstGeom>
          <a:noFill/>
          <a:ln w="127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69679" y="265176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 i="0">
                <a:solidFill>
                  <a:srgbClr val="C8C8C8"/>
                </a:solidFill>
                <a:latin typeface="Arial"/>
              </a:defRPr>
            </a:pPr>
            <a:r>
              <a:t>Offshoring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961119" y="2880360"/>
            <a:ext cx="1737360" cy="254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881359" y="26517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 i="0">
                <a:solidFill>
                  <a:srgbClr val="BFBFBF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1338560" y="2560320"/>
            <a:ext cx="2103120" cy="640080"/>
          </a:xfrm>
          <a:prstGeom prst="rect">
            <a:avLst/>
          </a:prstGeom>
          <a:noFill/>
          <a:ln w="12700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430000" y="265176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 i="0">
                <a:solidFill>
                  <a:srgbClr val="666666"/>
                </a:solidFill>
                <a:latin typeface="Arial"/>
              </a:defRPr>
            </a:pPr>
            <a:r>
              <a:t>Migration Complete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36576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66666"/>
                </a:solidFill>
                <a:latin typeface="Courier New"/>
              </a:defRPr>
            </a:pPr>
            <a:r>
              <a:t>AFTER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97280" y="4114800"/>
            <a:ext cx="1828800" cy="1280160"/>
          </a:xfrm>
          <a:prstGeom prst="rect">
            <a:avLst/>
          </a:prstGeom>
          <a:noFill/>
          <a:ln w="1270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280160" y="420624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666666"/>
                </a:solidFill>
                <a:latin typeface="Courier New"/>
              </a:defRPr>
            </a:pPr>
            <a:r>
              <a:t>END CLIENT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80160" y="457200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>
                <a:solidFill>
                  <a:srgbClr val="000000"/>
                </a:solidFill>
                <a:latin typeface="Arial"/>
              </a:defRPr>
            </a:pPr>
            <a:r>
              <a:t>QuickBooks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26080" y="45720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 i="0">
                <a:solidFill>
                  <a:srgbClr val="BFBFBF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383280" y="4114800"/>
            <a:ext cx="2743200" cy="1280160"/>
          </a:xfrm>
          <a:prstGeom prst="rect">
            <a:avLst/>
          </a:prstGeom>
          <a:noFill/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566160" y="420624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666666"/>
                </a:solidFill>
                <a:latin typeface="Courier New"/>
              </a:defRPr>
            </a:pPr>
            <a:r>
              <a:t>YOUR CONSULTANT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0" y="457200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666666"/>
                </a:solidFill>
                <a:latin typeface="Arial"/>
              </a:defRPr>
            </a:pPr>
            <a:r>
              <a:t>—  Relationship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66160" y="4773168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666666"/>
                </a:solidFill>
                <a:latin typeface="Arial"/>
              </a:defRPr>
            </a:pPr>
            <a:r>
              <a:t>—  Sales &amp; scoping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66160" y="4974336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666666"/>
                </a:solidFill>
                <a:latin typeface="Arial"/>
              </a:defRPr>
            </a:pPr>
            <a:r>
              <a:t>—  Provides context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66160" y="5175504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666666"/>
                </a:solidFill>
                <a:latin typeface="Arial"/>
              </a:defRPr>
            </a:pPr>
            <a:r>
              <a:t>—  Reviews outputs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26480" y="45720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 i="0">
                <a:solidFill>
                  <a:srgbClr val="BFBFBF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0" y="4114800"/>
            <a:ext cx="5486400" cy="256032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858000" y="4206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FFFFFF"/>
                </a:solidFill>
                <a:latin typeface="Courier New"/>
              </a:defRPr>
            </a:pPr>
            <a:r>
              <a:t>SOURCE AI ENGINE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0241280" y="4206240"/>
            <a:ext cx="155448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241280" y="4233672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 i="0">
                <a:solidFill>
                  <a:srgbClr val="000000"/>
                </a:solidFill>
                <a:latin typeface="Courier New"/>
              </a:defRPr>
            </a:pPr>
            <a:r>
              <a:t>&lt; 14 DAYS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0" y="475488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C8C8C8"/>
                </a:solidFill>
                <a:latin typeface="Arial"/>
              </a:defRPr>
            </a:pPr>
            <a:r>
              <a:t>■  System scanning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418320" y="475488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C8C8C8"/>
                </a:solidFill>
                <a:latin typeface="Arial"/>
              </a:defRPr>
            </a:pPr>
            <a:r>
              <a:t>■  Business logic inference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0" y="50749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C8C8C8"/>
                </a:solidFill>
                <a:latin typeface="Arial"/>
              </a:defRPr>
            </a:pPr>
            <a:r>
              <a:t>■  Strategy generation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418320" y="50749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C8C8C8"/>
                </a:solidFill>
                <a:latin typeface="Arial"/>
              </a:defRPr>
            </a:pPr>
            <a:r>
              <a:t>■  Data mapping &amp; discovery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58000" y="539496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C8C8C8"/>
                </a:solidFill>
                <a:latin typeface="Arial"/>
              </a:defRPr>
            </a:pPr>
            <a:r>
              <a:t>■  BRD generation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418320" y="539496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C8C8C8"/>
                </a:solidFill>
                <a:latin typeface="Arial"/>
              </a:defRPr>
            </a:pPr>
            <a:r>
              <a:t>■  Migration plan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0" y="5714999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C8C8C8"/>
                </a:solidFill>
                <a:latin typeface="Arial"/>
              </a:defRPr>
            </a:pPr>
            <a:r>
              <a:t>■  Implementation &amp; config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418320" y="5714999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C8C8C8"/>
                </a:solidFill>
                <a:latin typeface="Arial"/>
              </a:defRPr>
            </a:pPr>
            <a:r>
              <a:t>■  Testing &amp; QA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858000" y="603504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C8C8C8"/>
                </a:solidFill>
                <a:latin typeface="Arial"/>
              </a:defRPr>
            </a:pPr>
            <a:r>
              <a:t>■  Validation &amp; proof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418320" y="603504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C8C8C8"/>
                </a:solidFill>
                <a:latin typeface="Arial"/>
              </a:defRPr>
            </a:pPr>
            <a:r>
              <a:t>■  Go-live execution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2070080" y="50292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 i="0">
                <a:solidFill>
                  <a:srgbClr val="BFBFBF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2527280" y="4114800"/>
            <a:ext cx="1828800" cy="1280160"/>
          </a:xfrm>
          <a:prstGeom prst="rect">
            <a:avLst/>
          </a:prstGeom>
          <a:noFill/>
          <a:ln w="1270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2710160" y="420624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666666"/>
                </a:solidFill>
                <a:latin typeface="Courier New"/>
              </a:defRPr>
            </a:pPr>
            <a:r>
              <a:t>LIVE SYSTEM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2710160" y="457200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>
                <a:solidFill>
                  <a:srgbClr val="000000"/>
                </a:solidFill>
                <a:latin typeface="Arial"/>
              </a:defRPr>
            </a:pPr>
            <a:r>
              <a:t>NetSuite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97280" y="71323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 i="0">
                <a:solidFill>
                  <a:srgbClr val="666666"/>
                </a:solidFill>
                <a:latin typeface="Courier New"/>
              </a:defRPr>
            </a:pPr>
            <a:r>
              <a:t>WITHOUT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743200" y="7178040"/>
            <a:ext cx="9144000" cy="13716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2070080" y="70866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666666"/>
                </a:solidFill>
                <a:latin typeface="Courier New"/>
              </a:defRPr>
            </a:pPr>
            <a:r>
              <a:t>3-6+ months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97280" y="7498079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 i="0">
                <a:solidFill>
                  <a:srgbClr val="000000"/>
                </a:solidFill>
                <a:latin typeface="Courier New"/>
              </a:defRPr>
            </a:pPr>
            <a:r>
              <a:t>WITH SOURCE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743200" y="7543800"/>
            <a:ext cx="731520" cy="1371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657600" y="74523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000000"/>
                </a:solidFill>
                <a:latin typeface="Courier New"/>
              </a:defRPr>
            </a:pPr>
            <a:r>
              <a:t>&lt; 14 days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5486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666666"/>
                </a:solidFill>
                <a:latin typeface="Courier New"/>
              </a:defRPr>
            </a:pPr>
            <a:r>
              <a:t>RESPONSIBILITY MATRIX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005840"/>
            <a:ext cx="1280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200" b="1" i="0">
                <a:solidFill>
                  <a:srgbClr val="000000"/>
                </a:solidFill>
                <a:latin typeface="Arial"/>
              </a:defRPr>
            </a:pPr>
            <a:r>
              <a:t>Who Does What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0116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 i="0">
                <a:solidFill>
                  <a:srgbClr val="666666"/>
                </a:solidFill>
                <a:latin typeface="Arial"/>
              </a:defRPr>
            </a:pPr>
            <a:r>
              <a:t>Source AI does the technical execution end-to-end. The consultant keeps the client relationship, domain expertise, and commercial ownership.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3017520"/>
            <a:ext cx="4114800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97280" y="3017520"/>
            <a:ext cx="4114800" cy="54864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320040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>
                <a:solidFill>
                  <a:srgbClr val="000000"/>
                </a:solidFill>
                <a:latin typeface="Arial"/>
              </a:defRPr>
            </a:pPr>
            <a:r>
              <a:t>Source 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356616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666666"/>
                </a:solidFill>
                <a:latin typeface="Courier New"/>
              </a:defRPr>
            </a:pPr>
            <a:r>
              <a:t>HANDLED AUTONOMOUSLY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41148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66666"/>
                </a:solidFill>
                <a:latin typeface="Arial"/>
              </a:defRPr>
            </a:pPr>
            <a:r>
              <a:t>—  System scanning &amp; schema analysis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446227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66666"/>
                </a:solidFill>
                <a:latin typeface="Arial"/>
              </a:defRPr>
            </a:pPr>
            <a:r>
              <a:t>—  Business logic inference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4809744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66666"/>
                </a:solidFill>
                <a:latin typeface="Arial"/>
              </a:defRPr>
            </a:pPr>
            <a:r>
              <a:t>—  Strategy &amp; pain point identification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5157216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66666"/>
                </a:solidFill>
                <a:latin typeface="Arial"/>
              </a:defRPr>
            </a:pPr>
            <a:r>
              <a:t>—  Questionnaire generation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550468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66666"/>
                </a:solidFill>
                <a:latin typeface="Arial"/>
              </a:defRPr>
            </a:pPr>
            <a:r>
              <a:t>—  Draft BRD (AS-IS to TO-BE)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58521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66666"/>
                </a:solidFill>
                <a:latin typeface="Arial"/>
              </a:defRPr>
            </a:pPr>
            <a:r>
              <a:t>—  Migration plan generation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619963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66666"/>
                </a:solidFill>
                <a:latin typeface="Arial"/>
              </a:defRPr>
            </a:pPr>
            <a:r>
              <a:t>—  Implementation &amp; configuration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6547104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66666"/>
                </a:solidFill>
                <a:latin typeface="Arial"/>
              </a:defRPr>
            </a:pPr>
            <a:r>
              <a:t>—  Data migration execution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6894576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66666"/>
                </a:solidFill>
                <a:latin typeface="Arial"/>
              </a:defRPr>
            </a:pPr>
            <a:r>
              <a:t>—  Validation &amp; proof artifacts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0" y="3017520"/>
            <a:ext cx="4114800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60720" y="320040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>
                <a:solidFill>
                  <a:srgbClr val="000000"/>
                </a:solidFill>
                <a:latin typeface="Arial"/>
              </a:defRPr>
            </a:pPr>
            <a:r>
              <a:t>Consultant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60720" y="356616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666666"/>
                </a:solidFill>
                <a:latin typeface="Courier New"/>
              </a:defRPr>
            </a:pPr>
            <a:r>
              <a:t>REVIEW &amp; CONFIRM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60720" y="41148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66666"/>
                </a:solidFill>
                <a:latin typeface="Arial"/>
              </a:defRPr>
            </a:pPr>
            <a:r>
              <a:t>—  Provides initial context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60720" y="446227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66666"/>
                </a:solidFill>
                <a:latin typeface="Arial"/>
              </a:defRPr>
            </a:pPr>
            <a:r>
              <a:t>—  Reviews Source AI outputs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760720" y="4809744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66666"/>
                </a:solidFill>
                <a:latin typeface="Arial"/>
              </a:defRPr>
            </a:pPr>
            <a:r>
              <a:t>—  Delivers questions to end user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60720" y="5157216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66666"/>
                </a:solidFill>
                <a:latin typeface="Arial"/>
              </a:defRPr>
            </a:pPr>
            <a:r>
              <a:t>—  Confirms BRD with end user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60720" y="550468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66666"/>
                </a:solidFill>
                <a:latin typeface="Arial"/>
              </a:defRPr>
            </a:pPr>
            <a:r>
              <a:t>—  Signs off on migration plan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875520" y="3017520"/>
            <a:ext cx="4114800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149840" y="320040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>
                <a:solidFill>
                  <a:srgbClr val="000000"/>
                </a:solidFill>
                <a:latin typeface="Arial"/>
              </a:defRPr>
            </a:pPr>
            <a:r>
              <a:t>End User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149840" y="356616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666666"/>
                </a:solidFill>
                <a:latin typeface="Courier New"/>
              </a:defRPr>
            </a:pPr>
            <a:r>
              <a:t>ANSWER &amp; APPROVE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149840" y="41148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66666"/>
                </a:solidFill>
                <a:latin typeface="Arial"/>
              </a:defRPr>
            </a:pPr>
            <a:r>
              <a:t>—  Answers questionnaires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149840" y="446227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66666"/>
                </a:solidFill>
                <a:latin typeface="Arial"/>
              </a:defRPr>
            </a:pPr>
            <a:r>
              <a:t>—  Confirms business requirements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149840" y="4809744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66666"/>
                </a:solidFill>
                <a:latin typeface="Arial"/>
              </a:defRPr>
            </a:pPr>
            <a:r>
              <a:t>—  Signs off on TO-BE state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149840" y="5157216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66666"/>
                </a:solidFill>
                <a:latin typeface="Arial"/>
              </a:defRPr>
            </a:pPr>
            <a:r>
              <a:t>—  Accepts final migration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371600"/>
            <a:ext cx="1463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 i="0">
                <a:solidFill>
                  <a:srgbClr val="646464"/>
                </a:solidFill>
                <a:latin typeface="Courier New"/>
              </a:defRPr>
            </a:pPr>
            <a:r>
              <a:t>LIVE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2011680"/>
            <a:ext cx="1463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 i="0">
                <a:solidFill>
                  <a:srgbClr val="FFFFFF"/>
                </a:solidFill>
                <a:latin typeface="Arial"/>
              </a:defRPr>
            </a:pPr>
            <a:r>
              <a:t>See Source AI in 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0" y="32004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 i="0">
                <a:solidFill>
                  <a:srgbClr val="787878"/>
                </a:solidFill>
                <a:latin typeface="Arial"/>
              </a:defRPr>
            </a:pPr>
            <a:r>
              <a:t>From QuickBooks scan to NetSuite migration — in under 14 days.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0" y="4114800"/>
            <a:ext cx="10972800" cy="3657600"/>
          </a:xfrm>
          <a:prstGeom prst="rect">
            <a:avLst/>
          </a:prstGeom>
          <a:noFill/>
          <a:ln w="12700"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5486400"/>
            <a:ext cx="1463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 i="0">
                <a:solidFill>
                  <a:srgbClr val="646464"/>
                </a:solidFill>
                <a:latin typeface="Courier New"/>
              </a:defRPr>
            </a:pPr>
            <a:r>
              <a:t>▶  PLAY DEMO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4572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666666"/>
                </a:solidFill>
                <a:latin typeface="Courier New"/>
              </a:defRPr>
            </a:pPr>
            <a:r>
              <a:t>THE PARTNERSHIP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914400"/>
            <a:ext cx="1280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200" b="1" i="0">
                <a:solidFill>
                  <a:srgbClr val="000000"/>
                </a:solidFill>
                <a:latin typeface="Arial"/>
              </a:defRPr>
            </a:pPr>
            <a:r>
              <a:t>Why Partner with Source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8288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 i="0">
                <a:solidFill>
                  <a:srgbClr val="666666"/>
                </a:solidFill>
                <a:latin typeface="Arial"/>
              </a:defRPr>
            </a:pPr>
            <a:r>
              <a:t>Source AI doesn't replace your consultancy — it makes every engagement more profitable, faster, and more scalable.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2743200"/>
            <a:ext cx="4114800" cy="2468880"/>
          </a:xfrm>
          <a:prstGeom prst="rect">
            <a:avLst/>
          </a:prstGeom>
          <a:noFill/>
          <a:ln w="2540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463040" y="301752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 i="0">
                <a:solidFill>
                  <a:srgbClr val="000000"/>
                </a:solidFill>
                <a:latin typeface="Arial"/>
              </a:defRPr>
            </a:pPr>
            <a:r>
              <a:t>50%+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36576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BFBFBF"/>
                </a:solidFill>
                <a:latin typeface="Courier New"/>
              </a:defRPr>
            </a:pPr>
            <a:r>
              <a:t>PROJECT MARGINS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40233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000000"/>
                </a:solidFill>
                <a:latin typeface="Arial"/>
              </a:defRPr>
            </a:pPr>
            <a:r>
              <a:t>50%+ Margins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438912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66666"/>
                </a:solidFill>
                <a:latin typeface="Arial"/>
              </a:defRPr>
            </a:pPr>
            <a:r>
              <a:t>AI execution eliminates offshore teams and reduces delivery cost dramatically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0" y="2743200"/>
            <a:ext cx="4114800" cy="2468880"/>
          </a:xfrm>
          <a:prstGeom prst="rect">
            <a:avLst/>
          </a:prstGeom>
          <a:noFill/>
          <a:ln w="2540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852160" y="301752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 i="0">
                <a:solidFill>
                  <a:srgbClr val="000000"/>
                </a:solidFill>
                <a:latin typeface="Arial"/>
              </a:defRPr>
            </a:pPr>
            <a:r>
              <a:t>14-21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52160" y="36576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BFBFBF"/>
                </a:solidFill>
                <a:latin typeface="Courier New"/>
              </a:defRPr>
            </a:pPr>
            <a:r>
              <a:t>DAY MIGRATIONS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0" y="40233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000000"/>
                </a:solidFill>
                <a:latin typeface="Arial"/>
              </a:defRPr>
            </a:pPr>
            <a:r>
              <a:t>Happier Customers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52160" y="438912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66666"/>
                </a:solidFill>
                <a:latin typeface="Arial"/>
              </a:defRPr>
            </a:pPr>
            <a:r>
              <a:t>Days not months for migrations — faster delivery with validated artifacts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875520" y="2743200"/>
            <a:ext cx="4114800" cy="2468880"/>
          </a:xfrm>
          <a:prstGeom prst="rect">
            <a:avLst/>
          </a:prstGeom>
          <a:noFill/>
          <a:ln w="2540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241280" y="301752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 i="0">
                <a:solidFill>
                  <a:srgbClr val="000000"/>
                </a:solidFill>
                <a:latin typeface="Arial"/>
              </a:defRPr>
            </a:pPr>
            <a:r>
              <a:t>Fixed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241280" y="36576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BFBFBF"/>
                </a:solidFill>
                <a:latin typeface="Courier New"/>
              </a:defRPr>
            </a:pPr>
            <a:r>
              <a:t>PRICE DELIVERY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0" y="40233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000000"/>
                </a:solidFill>
                <a:latin typeface="Arial"/>
              </a:defRPr>
            </a:pPr>
            <a:r>
              <a:t>Fixed-Price Deals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41280" y="438912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66666"/>
                </a:solidFill>
                <a:latin typeface="Arial"/>
              </a:defRPr>
            </a:pPr>
            <a:r>
              <a:t>Source enables you to win fixed-price deals with predictable AI execution costs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97280" y="5486400"/>
            <a:ext cx="4114800" cy="2468880"/>
          </a:xfrm>
          <a:prstGeom prst="rect">
            <a:avLst/>
          </a:prstGeom>
          <a:noFill/>
          <a:ln w="2540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63040" y="576072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 i="0">
                <a:solidFill>
                  <a:srgbClr val="000000"/>
                </a:solidFill>
                <a:latin typeface="Arial"/>
              </a:defRPr>
            </a:pPr>
            <a:r>
              <a:t>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63040" y="64008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BFBFBF"/>
                </a:solidFill>
                <a:latin typeface="Courier New"/>
              </a:defRPr>
            </a:pPr>
            <a:r>
              <a:t>NEW HIRES NEEDED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3040" y="67665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000000"/>
                </a:solidFill>
                <a:latin typeface="Arial"/>
              </a:defRPr>
            </a:pPr>
            <a:r>
              <a:t>Scale Without Hiring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63040" y="713232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66666"/>
                </a:solidFill>
                <a:latin typeface="Arial"/>
              </a:defRPr>
            </a:pPr>
            <a:r>
              <a:t>Grow your migration practice without recruiting offshore teams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0" y="5486400"/>
            <a:ext cx="4114800" cy="2468880"/>
          </a:xfrm>
          <a:prstGeom prst="rect">
            <a:avLst/>
          </a:prstGeom>
          <a:noFill/>
          <a:ln w="2540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852160" y="576072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 i="0">
                <a:solidFill>
                  <a:srgbClr val="000000"/>
                </a:solidFill>
                <a:latin typeface="Arial"/>
              </a:defRPr>
            </a:pPr>
            <a:r>
              <a:t>WIN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52160" y="64008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BFBFBF"/>
                </a:solidFill>
                <a:latin typeface="Courier New"/>
              </a:defRPr>
            </a:pPr>
            <a:r>
              <a:t>ON PRICE EVERY TIME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52160" y="67665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000000"/>
                </a:solidFill>
                <a:latin typeface="Arial"/>
              </a:defRPr>
            </a:pPr>
            <a:r>
              <a:t>Win More Deals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52160" y="713232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66666"/>
                </a:solidFill>
                <a:latin typeface="Arial"/>
              </a:defRPr>
            </a:pPr>
            <a:r>
              <a:t>Quote $8K-$15K while competitors quote $30K-$40K — and still keep 50%+ margins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875520" y="5486400"/>
            <a:ext cx="4114800" cy="2468880"/>
          </a:xfrm>
          <a:prstGeom prst="rect">
            <a:avLst/>
          </a:prstGeom>
          <a:noFill/>
          <a:ln w="2540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241280" y="576072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 i="0">
                <a:solidFill>
                  <a:srgbClr val="000000"/>
                </a:solidFill>
                <a:latin typeface="Arial"/>
              </a:defRPr>
            </a:pPr>
            <a:r>
              <a:t>Your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241280" y="64008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BFBFBF"/>
                </a:solidFill>
                <a:latin typeface="Courier New"/>
              </a:defRPr>
            </a:pPr>
            <a:r>
              <a:t>BRAND, NOT OURS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241280" y="67665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000000"/>
                </a:solidFill>
                <a:latin typeface="Arial"/>
              </a:defRPr>
            </a:pPr>
            <a:r>
              <a:t>White Label Delivery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241280" y="713232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66666"/>
                </a:solidFill>
                <a:latin typeface="Arial"/>
              </a:defRPr>
            </a:pPr>
            <a:r>
              <a:t>Client-facing questionnaires and reports ship under your logo, domain, and colours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4572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666666"/>
                </a:solidFill>
                <a:latin typeface="Courier New"/>
              </a:defRPr>
            </a:pPr>
            <a:r>
              <a:t>PRICING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914400"/>
            <a:ext cx="1280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 i="0">
                <a:solidFill>
                  <a:srgbClr val="000000"/>
                </a:solidFill>
                <a:latin typeface="Arial"/>
              </a:defRPr>
            </a:pPr>
            <a:r>
              <a:t>Simple Revenue Share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7373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666666"/>
                </a:solidFill>
                <a:latin typeface="Arial"/>
              </a:defRPr>
            </a:pPr>
            <a:r>
              <a:t>Source takes 40% of the project fee — built into the price your client pays. You keep 60% with zero delivery cost.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2377440"/>
            <a:ext cx="118872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937760" y="24688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666666"/>
                </a:solidFill>
                <a:latin typeface="Courier New"/>
              </a:defRPr>
            </a:pPr>
            <a:r>
              <a:t>TRADITIONAL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2560" y="24688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000000"/>
                </a:solidFill>
                <a:latin typeface="Courier New"/>
              </a:defRPr>
            </a:pPr>
            <a:r>
              <a:t>WITH SOURCE AI</a:t>
            </a:r>
          </a:p>
        </p:txBody>
      </p:sp>
      <p:sp>
        <p:nvSpPr>
          <p:cNvPr id="8" name="Rectangle 7"/>
          <p:cNvSpPr/>
          <p:nvPr/>
        </p:nvSpPr>
        <p:spPr>
          <a:xfrm>
            <a:off x="1097280" y="2880360"/>
            <a:ext cx="118872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80160" y="297180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323232"/>
                </a:solidFill>
                <a:latin typeface="Arial"/>
              </a:defRPr>
            </a:pPr>
            <a:r>
              <a:t>Timeline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37760" y="2971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66666"/>
                </a:solidFill>
                <a:latin typeface="Arial"/>
              </a:defRPr>
            </a:pPr>
            <a:r>
              <a:t>6-12+ months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0" y="2971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000000"/>
                </a:solidFill>
                <a:latin typeface="Arial"/>
              </a:defRPr>
            </a:pPr>
            <a:r>
              <a:t>&lt; 14 days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97280" y="3383280"/>
            <a:ext cx="11887200" cy="502920"/>
          </a:xfrm>
          <a:prstGeom prst="rect">
            <a:avLst/>
          </a:prstGeom>
          <a:solidFill>
            <a:srgbClr val="F8F8F8"/>
          </a:solidFill>
          <a:ln w="1270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80160" y="347472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323232"/>
                </a:solidFill>
                <a:latin typeface="Arial"/>
              </a:defRPr>
            </a:pPr>
            <a:r>
              <a:t>Typical Cost to Client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37760" y="34747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66666"/>
                </a:solidFill>
                <a:latin typeface="Arial"/>
              </a:defRPr>
            </a:pPr>
            <a:r>
              <a:t>$30K-$40K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52560" y="34747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000000"/>
                </a:solidFill>
                <a:latin typeface="Arial"/>
              </a:defRPr>
            </a:pPr>
            <a:r>
              <a:t>$8K-$15K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7280" y="3886200"/>
            <a:ext cx="118872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80160" y="397764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323232"/>
                </a:solidFill>
                <a:latin typeface="Arial"/>
              </a:defRPr>
            </a:pPr>
            <a:r>
              <a:t>BRD Revisions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37760" y="39776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66666"/>
                </a:solidFill>
                <a:latin typeface="Arial"/>
              </a:defRPr>
            </a:pPr>
            <a:r>
              <a:t>3-5 cycles, weeks of delay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52560" y="39776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000000"/>
                </a:solidFill>
                <a:latin typeface="Arial"/>
              </a:defRPr>
            </a:pPr>
            <a:r>
              <a:t>AI-generated, instant updates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97280" y="4389120"/>
            <a:ext cx="11887200" cy="502920"/>
          </a:xfrm>
          <a:prstGeom prst="rect">
            <a:avLst/>
          </a:prstGeom>
          <a:solidFill>
            <a:srgbClr val="F8F8F8"/>
          </a:solidFill>
          <a:ln w="1270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80160" y="448056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323232"/>
                </a:solidFill>
                <a:latin typeface="Arial"/>
              </a:defRPr>
            </a:pPr>
            <a:r>
              <a:t>Scope Creep Risk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37760" y="44805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66666"/>
                </a:solidFill>
                <a:latin typeface="Arial"/>
              </a:defRPr>
            </a:pPr>
            <a:r>
              <a:t>High — discovered mid-build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52560" y="44805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000000"/>
                </a:solidFill>
                <a:latin typeface="Arial"/>
              </a:defRPr>
            </a:pPr>
            <a:r>
              <a:t>Low — system scan upfront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97280" y="4892040"/>
            <a:ext cx="118872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80160" y="498348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323232"/>
                </a:solidFill>
                <a:latin typeface="Arial"/>
              </a:defRPr>
            </a:pPr>
            <a:r>
              <a:t>Offshore Team Ramp-up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37760" y="49834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66666"/>
                </a:solidFill>
                <a:latin typeface="Arial"/>
              </a:defRPr>
            </a:pPr>
            <a:r>
              <a:t>2-6 weeks onboarding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52560" y="49834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000000"/>
                </a:solidFill>
                <a:latin typeface="Arial"/>
              </a:defRPr>
            </a:pPr>
            <a:r>
              <a:t>No team needed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97280" y="5394960"/>
            <a:ext cx="11887200" cy="502920"/>
          </a:xfrm>
          <a:prstGeom prst="rect">
            <a:avLst/>
          </a:prstGeom>
          <a:solidFill>
            <a:srgbClr val="F8F8F8"/>
          </a:solidFill>
          <a:ln w="1270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280160" y="548640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323232"/>
                </a:solidFill>
                <a:latin typeface="Arial"/>
              </a:defRPr>
            </a:pPr>
            <a:r>
              <a:t>Client Satisfaction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937760" y="54864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66666"/>
                </a:solidFill>
                <a:latin typeface="Arial"/>
              </a:defRPr>
            </a:pPr>
            <a:r>
              <a:t>Frustrated by delays &amp; overruns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52560" y="54864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000000"/>
                </a:solidFill>
                <a:latin typeface="Arial"/>
              </a:defRPr>
            </a:pPr>
            <a:r>
              <a:t>Fast, transparent, fewer surprises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097280" y="5897880"/>
            <a:ext cx="118872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80160" y="598932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323232"/>
                </a:solidFill>
                <a:latin typeface="Arial"/>
              </a:defRPr>
            </a:pPr>
            <a:r>
              <a:t>Pricing Model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937760" y="59893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66666"/>
                </a:solidFill>
                <a:latin typeface="Arial"/>
              </a:defRPr>
            </a:pPr>
            <a:r>
              <a:t>T&amp;M — unpredictable bills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52560" y="59893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000000"/>
                </a:solidFill>
                <a:latin typeface="Arial"/>
              </a:defRPr>
            </a:pPr>
            <a:r>
              <a:t>Fixed price — locked quote upfront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097280" y="6766560"/>
            <a:ext cx="11887200" cy="1371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645920" y="694944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 i="0">
                <a:solidFill>
                  <a:srgbClr val="FFFFFF"/>
                </a:solidFill>
                <a:latin typeface="Arial"/>
              </a:defRPr>
            </a:pPr>
            <a:r>
              <a:t>40%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645920" y="76352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787878"/>
                </a:solidFill>
                <a:latin typeface="Courier New"/>
              </a:defRPr>
            </a:pPr>
            <a:r>
              <a:t>SOURCE AI FEE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840480" y="694944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 i="0">
                <a:solidFill>
                  <a:srgbClr val="FFFFFF"/>
                </a:solidFill>
                <a:latin typeface="Arial"/>
              </a:defRPr>
            </a:pPr>
            <a:r>
              <a:t>60%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840480" y="76352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787878"/>
                </a:solidFill>
                <a:latin typeface="Courier New"/>
              </a:defRPr>
            </a:pPr>
            <a:r>
              <a:t>YOU KEEP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800" y="704088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>
                <a:solidFill>
                  <a:srgbClr val="FFFFFF"/>
                </a:solidFill>
                <a:latin typeface="Arial"/>
              </a:defRPr>
            </a:pPr>
            <a:r>
              <a:t>Built into the price.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00800" y="7498080"/>
            <a:ext cx="5943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8C8C8C"/>
                </a:solidFill>
                <a:latin typeface="Arial"/>
              </a:defRPr>
            </a:pPr>
            <a:r>
              <a:t>Source’s 40% is included in the project fee your client pays. You keep 60% with zero delivery overhead.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4572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666666"/>
                </a:solidFill>
                <a:latin typeface="Courier New"/>
              </a:defRPr>
            </a:pPr>
            <a:r>
              <a:t>THE 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914400"/>
            <a:ext cx="1280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200" b="1" i="0">
                <a:solidFill>
                  <a:srgbClr val="000000"/>
                </a:solidFill>
                <a:latin typeface="Arial"/>
              </a:defRPr>
            </a:pPr>
            <a:r>
              <a:t>Built by AI engineers.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828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666666"/>
                </a:solidFill>
                <a:latin typeface="Courier New"/>
              </a:defRPr>
            </a:pPr>
            <a:r>
              <a:t>San Francisco, 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4688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BFBFBF"/>
                </a:solidFill>
                <a:latin typeface="Courier New"/>
              </a:defRPr>
            </a:pPr>
            <a:r>
              <a:t>CORE TEAM</a:t>
            </a:r>
          </a:p>
        </p:txBody>
      </p:sp>
      <p:sp>
        <p:nvSpPr>
          <p:cNvPr id="6" name="Rectangle 5"/>
          <p:cNvSpPr/>
          <p:nvPr/>
        </p:nvSpPr>
        <p:spPr>
          <a:xfrm>
            <a:off x="1097280" y="2834640"/>
            <a:ext cx="2377440" cy="2377440"/>
          </a:xfrm>
          <a:prstGeom prst="rect">
            <a:avLst/>
          </a:prstGeom>
          <a:noFill/>
          <a:ln w="1270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874520" y="3063240"/>
            <a:ext cx="822960" cy="822960"/>
          </a:xfrm>
          <a:prstGeom prst="ellipse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74520" y="3246120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 i="0">
                <a:solidFill>
                  <a:srgbClr val="BFBFBF"/>
                </a:solidFill>
                <a:latin typeface="Arial"/>
              </a:defRPr>
            </a:pPr>
            <a:r>
              <a:t>LF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397764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 i="0">
                <a:solidFill>
                  <a:srgbClr val="000000"/>
                </a:solidFill>
                <a:latin typeface="Arial"/>
              </a:defRPr>
            </a:pPr>
            <a:r>
              <a:t>Liam Fuller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425196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 i="0">
                <a:solidFill>
                  <a:srgbClr val="666666"/>
                </a:solidFill>
                <a:latin typeface="Courier New"/>
              </a:defRPr>
            </a:pPr>
            <a:r>
              <a:t>CEO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452628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 i="0">
                <a:solidFill>
                  <a:srgbClr val="666666"/>
                </a:solidFill>
                <a:latin typeface="Arial"/>
              </a:defRPr>
            </a:pPr>
            <a:r>
              <a:t>AI infrastructure &amp; agent systems. Built Source's autonomous migration engine.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703320" y="2834640"/>
            <a:ext cx="2377440" cy="2377440"/>
          </a:xfrm>
          <a:prstGeom prst="rect">
            <a:avLst/>
          </a:prstGeom>
          <a:noFill/>
          <a:ln w="1270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480560" y="3063240"/>
            <a:ext cx="822960" cy="822960"/>
          </a:xfrm>
          <a:prstGeom prst="ellipse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80560" y="3246120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 i="0">
                <a:solidFill>
                  <a:srgbClr val="BFBFBF"/>
                </a:solidFill>
                <a:latin typeface="Arial"/>
              </a:defRPr>
            </a:pPr>
            <a:r>
              <a:t>YG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0" y="397764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 i="0">
                <a:solidFill>
                  <a:srgbClr val="000000"/>
                </a:solidFill>
                <a:latin typeface="Arial"/>
              </a:defRPr>
            </a:pPr>
            <a:r>
              <a:t>Yoan Gabison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0480" y="425196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 i="0">
                <a:solidFill>
                  <a:srgbClr val="666666"/>
                </a:solidFill>
                <a:latin typeface="Courier New"/>
              </a:defRPr>
            </a:pPr>
            <a:r>
              <a:t>CTO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40480" y="452628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 i="0">
                <a:solidFill>
                  <a:srgbClr val="666666"/>
                </a:solidFill>
                <a:latin typeface="Arial"/>
              </a:defRPr>
            </a:pPr>
            <a:r>
              <a:t>Full-stack AI architect. 10+ years NetSuite &amp; ERP systems. Designed Source's core platform.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9360" y="2834640"/>
            <a:ext cx="2377440" cy="2377440"/>
          </a:xfrm>
          <a:prstGeom prst="rect">
            <a:avLst/>
          </a:prstGeom>
          <a:noFill/>
          <a:ln w="1270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086600" y="3063240"/>
            <a:ext cx="822960" cy="822960"/>
          </a:xfrm>
          <a:prstGeom prst="ellipse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86600" y="3246120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 i="0">
                <a:solidFill>
                  <a:srgbClr val="BFBFBF"/>
                </a:solidFill>
                <a:latin typeface="Arial"/>
              </a:defRPr>
            </a:pPr>
            <a:r>
              <a:t>SF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397764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 i="0">
                <a:solidFill>
                  <a:srgbClr val="000000"/>
                </a:solidFill>
                <a:latin typeface="Arial"/>
              </a:defRPr>
            </a:pPr>
            <a:r>
              <a:t>Shane Fuller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425196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 i="0">
                <a:solidFill>
                  <a:srgbClr val="666666"/>
                </a:solidFill>
                <a:latin typeface="Courier New"/>
              </a:defRPr>
            </a:pPr>
            <a:r>
              <a:t>FOUNDING ENGINEER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452628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 i="0">
                <a:solidFill>
                  <a:srgbClr val="666666"/>
                </a:solidFill>
                <a:latin typeface="Arial"/>
              </a:defRPr>
            </a:pPr>
            <a:r>
              <a:t>Ex-Cybersecurity IT Director. Enterprise security &amp; infrastructure.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915400" y="2834640"/>
            <a:ext cx="2377440" cy="2377440"/>
          </a:xfrm>
          <a:prstGeom prst="rect">
            <a:avLst/>
          </a:prstGeom>
          <a:noFill/>
          <a:ln w="1270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692640" y="3063240"/>
            <a:ext cx="822960" cy="822960"/>
          </a:xfrm>
          <a:prstGeom prst="ellipse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92640" y="3246120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 i="0">
                <a:solidFill>
                  <a:srgbClr val="BFBFBF"/>
                </a:solidFill>
                <a:latin typeface="Arial"/>
              </a:defRPr>
            </a:pPr>
            <a:r>
              <a:t>BK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52560" y="397764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 i="0">
                <a:solidFill>
                  <a:srgbClr val="000000"/>
                </a:solidFill>
                <a:latin typeface="Arial"/>
              </a:defRPr>
            </a:pPr>
            <a:r>
              <a:t>Brian Kelleher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52560" y="425196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 i="0">
                <a:solidFill>
                  <a:srgbClr val="666666"/>
                </a:solidFill>
                <a:latin typeface="Courier New"/>
              </a:defRPr>
            </a:pPr>
            <a:r>
              <a:t>AI ENGINEER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52560" y="452628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 i="0">
                <a:solidFill>
                  <a:srgbClr val="666666"/>
                </a:solidFill>
                <a:latin typeface="Arial"/>
              </a:defRPr>
            </a:pPr>
            <a:r>
              <a:t>ML pipelines &amp; data migration. Builds the models that power Source.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1521440" y="2834640"/>
            <a:ext cx="2377440" cy="2377440"/>
          </a:xfrm>
          <a:prstGeom prst="rect">
            <a:avLst/>
          </a:prstGeom>
          <a:noFill/>
          <a:ln w="1270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2298680" y="3063240"/>
            <a:ext cx="822960" cy="822960"/>
          </a:xfrm>
          <a:prstGeom prst="ellipse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2298680" y="3246120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 i="0">
                <a:solidFill>
                  <a:srgbClr val="BFBFBF"/>
                </a:solidFill>
                <a:latin typeface="Arial"/>
              </a:defRPr>
            </a:pPr>
            <a:r>
              <a:t>JP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658600" y="397764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 i="0">
                <a:solidFill>
                  <a:srgbClr val="000000"/>
                </a:solidFill>
                <a:latin typeface="Arial"/>
              </a:defRPr>
            </a:pPr>
            <a:r>
              <a:t>Jiri Pucs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658600" y="425196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 i="0">
                <a:solidFill>
                  <a:srgbClr val="666666"/>
                </a:solidFill>
                <a:latin typeface="Courier New"/>
              </a:defRPr>
            </a:pPr>
            <a:r>
              <a:t>AI ENGINEER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658600" y="452628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 i="0">
                <a:solidFill>
                  <a:srgbClr val="666666"/>
                </a:solidFill>
                <a:latin typeface="Arial"/>
              </a:defRPr>
            </a:pPr>
            <a:r>
              <a:t>Backend systems &amp; integrations. API architecture &amp; data pipelines.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7280" y="54864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BFBFBF"/>
                </a:solidFill>
                <a:latin typeface="Courier New"/>
              </a:defRPr>
            </a:pPr>
            <a:r>
              <a:t>CONSULTANTS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097280" y="5852160"/>
            <a:ext cx="3200400" cy="731520"/>
          </a:xfrm>
          <a:prstGeom prst="rect">
            <a:avLst/>
          </a:prstGeom>
          <a:noFill/>
          <a:ln w="1270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280160" y="5989320"/>
            <a:ext cx="457200" cy="457200"/>
          </a:xfrm>
          <a:prstGeom prst="ellipse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280160" y="6053328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 i="0">
                <a:solidFill>
                  <a:srgbClr val="BFBFBF"/>
                </a:solidFill>
                <a:latin typeface="Arial"/>
              </a:defRPr>
            </a:pPr>
            <a:r>
              <a:t>SG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874520" y="5961888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000000"/>
                </a:solidFill>
                <a:latin typeface="Arial"/>
              </a:defRPr>
            </a:pPr>
            <a:r>
              <a:t>Sean Gillespie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874520" y="6236208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666666"/>
                </a:solidFill>
                <a:latin typeface="Courier New"/>
              </a:defRPr>
            </a:pPr>
            <a:r>
              <a:t>CONSULTANT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0" y="69494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666666"/>
                </a:solidFill>
                <a:latin typeface="Courier New"/>
              </a:defRPr>
            </a:pPr>
            <a:r>
              <a:t>10+ additional internal expertise consultants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371600"/>
            <a:ext cx="1463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 i="0">
                <a:solidFill>
                  <a:srgbClr val="646464"/>
                </a:solidFill>
                <a:latin typeface="Courier New"/>
              </a:defRPr>
            </a:pPr>
            <a:r>
              <a:t>SOURCE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743200"/>
            <a:ext cx="11887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 i="0">
                <a:solidFill>
                  <a:srgbClr val="FFFFFF"/>
                </a:solidFill>
                <a:latin typeface="Arial"/>
              </a:defRPr>
            </a:pPr>
            <a:r>
              <a:t>Source is NOT a tool.</a:t>
            </a:r>
            <a:br/>
            <a:r>
              <a:t>It fundamentally changes</a:t>
            </a:r>
            <a:br/>
            <a:r>
              <a:t>consulting in the age of AI.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