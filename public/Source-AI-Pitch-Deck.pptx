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How Migrations Work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56032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6334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End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8803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Identifies need, issues RFP, evaluates vendors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333756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Sales &amp; Scoping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6576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Discovery calls, needs analysis, proposal writing, SOW negotiation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411480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41879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Solutions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434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Schema analysis, gap assessment, AS-IS to TO-BE mapping, BRD creation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199" y="489204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79" y="49651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99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Resource &amp; Team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599" y="52120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Find offshore/onshore devs, onboard, ramp up on client systems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566928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57424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5715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Implementation &amp;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989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Data migration, custom development, integrations, UAT, bug fixing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6446520"/>
            <a:ext cx="8229600" cy="64008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65196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FBFBF"/>
                </a:solidFill>
                <a:latin typeface="Courier New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6492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0000"/>
                </a:solidFill>
                <a:latin typeface="Arial"/>
              </a:defRPr>
            </a:pPr>
            <a:r>
              <a:t>Go-Live &amp; Handover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67665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Cutover planning, validation, training, hypercare, documentation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74980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FBFBF"/>
                </a:solidFill>
                <a:latin typeface="Courier New"/>
              </a:defRPr>
            </a:pPr>
            <a:r>
              <a:t>Month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7223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66666"/>
                </a:solidFill>
                <a:latin typeface="Courier New"/>
              </a:defRPr>
            </a:pPr>
            <a:r>
              <a:t>2 - 6+ months typical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74980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BFBFBF"/>
                </a:solidFill>
                <a:latin typeface="Courier New"/>
              </a:defRPr>
            </a:pPr>
            <a:r>
              <a:t>Month 6+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7280" y="7360920"/>
            <a:ext cx="12435840" cy="73152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463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66666"/>
                </a:solidFill>
                <a:latin typeface="Courier New"/>
              </a:defRPr>
            </a:pPr>
            <a:r>
              <a:t>INTRODUCING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463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0" b="1" i="0">
                <a:solidFill>
                  <a:srgbClr val="000000"/>
                </a:solidFill>
                <a:latin typeface="Arial"/>
              </a:defRPr>
            </a:pPr>
            <a: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7548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666666"/>
                </a:solidFill>
                <a:latin typeface="Arial"/>
              </a:defRPr>
            </a:pPr>
            <a:r>
              <a:t>An AI engine that automates 80% of ERP migrations —</a:t>
            </a:r>
            <a:br/>
            <a:r>
              <a:t>so your consultancy wins more deals, moves faster,</a:t>
            </a:r>
            <a:br/>
            <a:r>
              <a:t>and makes more money.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Source AI Replaces the Delivery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Courier New"/>
              </a:defRPr>
            </a:pPr>
            <a: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560320"/>
            <a:ext cx="2103120" cy="6400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666666"/>
                </a:solidFill>
                <a:latin typeface="Arial"/>
              </a:defRPr>
            </a:pPr>
            <a:r>
              <a:t>End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560320"/>
            <a:ext cx="2103120" cy="6400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666666"/>
                </a:solidFill>
                <a:latin typeface="Arial"/>
              </a:defRPr>
            </a:pPr>
            <a:r>
              <a:t>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560320"/>
            <a:ext cx="2103120" cy="64008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C8C8C8"/>
                </a:solidFill>
                <a:latin typeface="Arial"/>
              </a:defRPr>
            </a:pPr>
            <a:r>
              <a:t>Solutions Architect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880360"/>
            <a:ext cx="1737360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39" y="2560320"/>
            <a:ext cx="2103120" cy="64008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79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C8C8C8"/>
                </a:solidFill>
                <a:latin typeface="Arial"/>
              </a:defRPr>
            </a:pPr>
            <a:r>
              <a:t>Offshoring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2880360"/>
            <a:ext cx="1737360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59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338560" y="2560320"/>
            <a:ext cx="2103120" cy="6400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666666"/>
                </a:solidFill>
                <a:latin typeface="Arial"/>
              </a:defRPr>
            </a:pPr>
            <a:r>
              <a:t>Migration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Courier New"/>
              </a:defRPr>
            </a:pPr>
            <a:r>
              <a:t>AFTER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114800"/>
            <a:ext cx="1828800" cy="128016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66666"/>
                </a:solidFill>
                <a:latin typeface="Courier New"/>
              </a:defRPr>
            </a:pPr>
            <a:r>
              <a:t>END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572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QuickBooks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4114800"/>
            <a:ext cx="2743200" cy="128016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Courier New"/>
              </a:defRPr>
            </a:pPr>
            <a:r>
              <a:t>YOUR CONSULTANT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4572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—  Relationship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773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—  Sales &amp; scoping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974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—  Provides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75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Arial"/>
              </a:defRPr>
            </a:pPr>
            <a:r>
              <a:t>—  Reviews outputs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4114800"/>
            <a:ext cx="5486400" cy="2560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ourier New"/>
              </a:defRPr>
            </a:pPr>
            <a:r>
              <a:t>SOURCE AI ENGINE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0" y="4206240"/>
            <a:ext cx="1554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0" y="42336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000000"/>
                </a:solidFill>
                <a:latin typeface="Courier New"/>
              </a:defRPr>
            </a:pPr>
            <a:r>
              <a:t>&lt; 14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System scanning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Business logic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5074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Strategy generation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5074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Data mapping &amp; discovery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394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BRD generation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5394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Migration 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7149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Implementation &amp; config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7149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Testing &amp; QA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6035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Validation &amp; proof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6035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C8C8C8"/>
                </a:solidFill>
                <a:latin typeface="Arial"/>
              </a:defRPr>
            </a:pPr>
            <a:r>
              <a:t>■  Go-live execution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7008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BFBFB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527280" y="4114800"/>
            <a:ext cx="1828800" cy="128016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1016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666666"/>
                </a:solidFill>
                <a:latin typeface="Courier New"/>
              </a:defRPr>
            </a:pPr>
            <a:r>
              <a:t>LIVE SYSTEM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0160" y="4572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NetSuite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7132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666666"/>
                </a:solidFill>
                <a:latin typeface="Courier New"/>
              </a:defRPr>
            </a:pPr>
            <a:r>
              <a:t>WITHOUT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0" y="7178040"/>
            <a:ext cx="9144000" cy="1371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070080" y="7086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3-6+ months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74980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 i="0">
                <a:solidFill>
                  <a:srgbClr val="000000"/>
                </a:solidFill>
                <a:latin typeface="Courier New"/>
              </a:defRPr>
            </a:pPr>
            <a:r>
              <a:t>WITH SOURCE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7543800"/>
            <a:ext cx="731520" cy="1371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0" y="7452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0000"/>
                </a:solidFill>
                <a:latin typeface="Courier New"/>
              </a:defRPr>
            </a:pPr>
            <a:r>
              <a:t>&lt; 14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RESPONSIBILITY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00000"/>
                </a:solidFill>
                <a:latin typeface="Arial"/>
              </a:defRPr>
            </a:pPr>
            <a:r>
              <a:t>Who Does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66666"/>
                </a:solidFill>
                <a:latin typeface="Arial"/>
              </a:defRPr>
            </a:pPr>
            <a:r>
              <a:t>Source AI does the technical execution end-to-end. The consultant keeps the client relationship, domain expertise, and commercial ownership.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017520"/>
            <a:ext cx="4114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3017520"/>
            <a:ext cx="4114800" cy="5486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Source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HANDLED AUTONOMOUSLY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System scanning &amp; schema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62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Business logic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8097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Strategy &amp; pain point identification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572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Questionnaire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04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Draft BRD (AS-IS to TO-BE)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52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Migration plan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1996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Implementation &amp;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5471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Data migration 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68945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Validation &amp; proof artifacts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3017520"/>
            <a:ext cx="4114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Consultant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REVIEW &amp; CONFIRM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Provides initial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462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Reviews Source AI outputs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48097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Delivers questions to end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1572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Confirms BRD with end 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504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Signs off on migration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017520"/>
            <a:ext cx="4114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0000"/>
                </a:solidFill>
                <a:latin typeface="Arial"/>
              </a:defRPr>
            </a:pPr>
            <a:r>
              <a:t>End 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ANSWER &amp; 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Answers questionnaires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462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Confirms business requirements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8097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Signs off on TO-BE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51572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—  Accepts final migration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463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6464"/>
                </a:solidFill>
                <a:latin typeface="Courier New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Arial"/>
              </a:defRPr>
            </a:pPr>
            <a:r>
              <a:t>See Source AI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787878"/>
                </a:solidFill>
                <a:latin typeface="Arial"/>
              </a:defRPr>
            </a:pPr>
            <a:r>
              <a:t>From QuickBooks scan to NetSuite migration — in under 14 days.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114800"/>
            <a:ext cx="10972800" cy="3657600"/>
          </a:xfrm>
          <a:prstGeom prst="rect">
            <a:avLst/>
          </a:prstGeom>
          <a:noFill/>
          <a:ln w="12700"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0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6464"/>
                </a:solidFill>
                <a:latin typeface="Courier New"/>
              </a:defRPr>
            </a:pPr>
            <a:r>
              <a:t>▶  PLAY DEMO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THE PARTNERSHIP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00000"/>
                </a:solidFill>
                <a:latin typeface="Arial"/>
              </a:defRPr>
            </a:pPr>
            <a:r>
              <a:t>Why Partner with Source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66666"/>
                </a:solidFill>
                <a:latin typeface="Arial"/>
              </a:defRPr>
            </a:pPr>
            <a:r>
              <a:t>Source AI doesn't replace your consultancy — it makes every engagement more profitable, faster, and more scalable.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017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50%+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57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PROJECT MARGINS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50%+ Margins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3891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AI execution eliminates offshore teams and reduces delivery cost dramatically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7432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3017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14-21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657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DAY MIGRATIONS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Happier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3891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Days not months for migrations — faster delivery with validated artifacts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27432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017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Fixed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657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PRICE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Fixed-Price 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43891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Source enables you to win fixed-price deals with predictable AI execution costs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4864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6400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NEW HIRES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6766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Scale Without Hiring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7132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Grow your migration practice without recruiting offshore teams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4864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WIN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6400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ON PRICE EVERY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6766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Win More Deals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7132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Quote $8K-$15K while competitors quote $30K-$40K — and still keep 50%+ margins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0" y="5486400"/>
            <a:ext cx="4114800" cy="2468880"/>
          </a:xfrm>
          <a:prstGeom prst="rect">
            <a:avLst/>
          </a:prstGeom>
          <a:noFill/>
          <a:ln w="254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Your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00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BRAND, NOT OURS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766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0000"/>
                </a:solidFill>
                <a:latin typeface="Arial"/>
              </a:defRPr>
            </a:pPr>
            <a:r>
              <a:t>White Label Delivery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7132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Client-facing questionnaires and reports ship under your logo, domain, and colours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000000"/>
                </a:solidFill>
                <a:latin typeface="Arial"/>
              </a:defRPr>
            </a:pPr>
            <a:r>
              <a:t>Simple Revenue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66666"/>
                </a:solidFill>
                <a:latin typeface="Arial"/>
              </a:defRPr>
            </a:pPr>
            <a:r>
              <a:t>First migration free. After that, pricing is negotiated as a revenue share. No subscriptions, no per-seat fees.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377440"/>
            <a:ext cx="11887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Courier New"/>
              </a:defRPr>
            </a:pPr>
            <a:r>
              <a:t>TRADITIONAL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0000"/>
                </a:solidFill>
                <a:latin typeface="Courier New"/>
              </a:defRPr>
            </a:pPr>
            <a:r>
              <a:t>WITH SOURCE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880360"/>
            <a:ext cx="11887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6-12+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&lt; 14 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383280"/>
            <a:ext cx="1188720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Typical Cost to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$30K-$40K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$8K-$15K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886200"/>
            <a:ext cx="11887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BRD Revisions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977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3-5 cycles, weeks of delay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977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AI-generated, instant updates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389120"/>
            <a:ext cx="1188720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Scope Creep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High — discovered mid-build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Low — system scan upfront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892040"/>
            <a:ext cx="11887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4983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Offshore Team Ramp-up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2-6 weeks onboarding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No team needed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394960"/>
            <a:ext cx="11887200" cy="502920"/>
          </a:xfrm>
          <a:prstGeom prst="rect">
            <a:avLst/>
          </a:prstGeom>
          <a:solidFill>
            <a:srgbClr val="F8F8F8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5486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Client Satisfaction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Frustrated by delays &amp; overruns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Fast, transparent, fewer surprises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" y="5897880"/>
            <a:ext cx="11887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989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23232"/>
                </a:solidFill>
                <a:latin typeface="Arial"/>
              </a:defRPr>
            </a:pPr>
            <a:r>
              <a:t>Pricing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66666"/>
                </a:solidFill>
                <a:latin typeface="Arial"/>
              </a:defRPr>
            </a:pPr>
            <a:r>
              <a:t>T&amp;M — unpredictable bills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5989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Arial"/>
              </a:defRPr>
            </a:pPr>
            <a:r>
              <a:t>Fixed price — locked quote upfront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6766560"/>
            <a:ext cx="11887200" cy="1371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0" y="69494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7635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87878"/>
                </a:solidFill>
                <a:latin typeface="Courier New"/>
              </a:defRPr>
            </a:pPr>
            <a:r>
              <a:t>FIRST MIGRATION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7040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Arial"/>
              </a:defRPr>
            </a:pPr>
            <a:r>
              <a:t>We're looking for design partners.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74980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C8C8C"/>
                </a:solidFill>
                <a:latin typeface="Arial"/>
              </a:defRPr>
            </a:pPr>
            <a:r>
              <a:t>Your first migration is completely free — see the full output before any commitment.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66666"/>
                </a:solidFill>
                <a:latin typeface="Courier New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000000"/>
                </a:solidFill>
                <a:latin typeface="Arial"/>
              </a:defRPr>
            </a:pPr>
            <a:r>
              <a:t>Built by AI engineers.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66666"/>
                </a:solidFill>
                <a:latin typeface="Courier New"/>
              </a:defRPr>
            </a:pPr>
            <a:r>
              <a:t>San Francisco, 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834640"/>
            <a:ext cx="2377440" cy="237744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4520" y="3063240"/>
            <a:ext cx="822960" cy="82296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BFBFBF"/>
                </a:solidFill>
                <a:latin typeface="Arial"/>
              </a:defRPr>
            </a:pPr>
            <a:r>
              <a:t>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0000"/>
                </a:solidFill>
                <a:latin typeface="Arial"/>
              </a:defRPr>
            </a:pPr>
            <a:r>
              <a:t>Liam Fuller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251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CEO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66666"/>
                </a:solidFill>
                <a:latin typeface="Arial"/>
              </a:defRPr>
            </a:pPr>
            <a:r>
              <a:t>AI infrastructure &amp; agent systems. Built Source's autonomous migration engine.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834640"/>
            <a:ext cx="2377440" cy="237744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3063240"/>
            <a:ext cx="822960" cy="82296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BFBFBF"/>
                </a:solidFill>
                <a:latin typeface="Arial"/>
              </a:defRPr>
            </a:pPr>
            <a:r>
              <a:t>YG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0000"/>
                </a:solidFill>
                <a:latin typeface="Arial"/>
              </a:defRPr>
            </a:pPr>
            <a:r>
              <a:t>Yoan Gabison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51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66666"/>
                </a:solidFill>
                <a:latin typeface="Arial"/>
              </a:defRPr>
            </a:pPr>
            <a:r>
              <a:t>Full-stack AI architect. 10+ years NetSuite &amp; ERP systems. Designed Source's core platform.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834640"/>
            <a:ext cx="2377440" cy="237744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6600" y="3063240"/>
            <a:ext cx="822960" cy="82296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BFBFBF"/>
                </a:solidFill>
                <a:latin typeface="Arial"/>
              </a:defRPr>
            </a:pPr>
            <a:r>
              <a:t>SF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0000"/>
                </a:solidFill>
                <a:latin typeface="Arial"/>
              </a:defRPr>
            </a:pPr>
            <a:r>
              <a:t>Sahen Fuller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51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FOUNDING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66666"/>
                </a:solidFill>
                <a:latin typeface="Arial"/>
              </a:defRPr>
            </a:pPr>
            <a:r>
              <a:t>Ex-Cybersecurity IT Director. Enterprise security &amp; infrastructure.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2834640"/>
            <a:ext cx="2377440" cy="237744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92640" y="3063240"/>
            <a:ext cx="822960" cy="82296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BFBFBF"/>
                </a:solidFill>
                <a:latin typeface="Arial"/>
              </a:defRPr>
            </a:pPr>
            <a:r>
              <a:t>BK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0000"/>
                </a:solidFill>
                <a:latin typeface="Arial"/>
              </a:defRPr>
            </a:pPr>
            <a:r>
              <a:t>Brian Kelleher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4251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AI ENGINEER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66666"/>
                </a:solidFill>
                <a:latin typeface="Arial"/>
              </a:defRPr>
            </a:pPr>
            <a:r>
              <a:t>ML pipelines &amp; data migration. Builds the models that power Source.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521440" y="2834640"/>
            <a:ext cx="2377440" cy="237744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298680" y="3063240"/>
            <a:ext cx="822960" cy="82296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298680" y="3246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BFBFBF"/>
                </a:solidFill>
                <a:latin typeface="Arial"/>
              </a:defRPr>
            </a:pPr>
            <a: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0000"/>
                </a:solidFill>
                <a:latin typeface="Arial"/>
              </a:defRPr>
            </a:pPr>
            <a:r>
              <a:t>Jiri Pucs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0" y="4251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AI ENGINEER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5860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66666"/>
                </a:solidFill>
                <a:latin typeface="Arial"/>
              </a:defRPr>
            </a:pPr>
            <a:r>
              <a:t>Backend systems &amp; integrations. API architecture &amp; data pipelines.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486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FBFBF"/>
                </a:solidFill>
                <a:latin typeface="Courier New"/>
              </a:defRPr>
            </a:pPr>
            <a:r>
              <a:t>CONSULTANTS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52160"/>
            <a:ext cx="3200400" cy="731520"/>
          </a:xfrm>
          <a:prstGeom prst="rect">
            <a:avLst/>
          </a:prstGeom>
          <a:noFill/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80160" y="598932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60533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BFBFBF"/>
                </a:solidFill>
                <a:latin typeface="Arial"/>
              </a:defRPr>
            </a:pPr>
            <a:r>
              <a:t>SG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4520" y="5961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0000"/>
                </a:solidFill>
                <a:latin typeface="Arial"/>
              </a:defRPr>
            </a:pPr>
            <a:r>
              <a:t>Sean Gillespie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623620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ourier New"/>
              </a:defRPr>
            </a:pPr>
            <a:r>
              <a:t>CONSULTANT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69494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66666"/>
                </a:solidFill>
                <a:latin typeface="Courier New"/>
              </a:defRPr>
            </a:pPr>
            <a:r>
              <a:t>10+ additional internal expertise consultants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463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6464"/>
                </a:solidFill>
                <a:latin typeface="Courier New"/>
              </a:defRPr>
            </a:pPr>
            <a:r>
              <a:t>SOURCE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11887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Arial"/>
              </a:defRPr>
            </a:pPr>
            <a:r>
              <a:t>Source is NOT a tool.</a:t>
            </a:r>
            <a:br/>
            <a:r>
              <a:t>It fundamentally changes</a:t>
            </a:r>
            <a:br/>
            <a:r>
              <a:t>consulting in the age of AI.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